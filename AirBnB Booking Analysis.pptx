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4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00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0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18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4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34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74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07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41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96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9542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4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997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94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7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5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F5078-8A7A-451A-A5C8-E61F8CB08A6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7167944-BE2F-4CEF-93FD-6F9D597CA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1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62BD-D61F-25F8-8D42-67D790A18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130710"/>
            <a:ext cx="8915399" cy="372532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chemeClr val="accent1">
                    <a:lumMod val="75000"/>
                  </a:schemeClr>
                </a:solidFill>
              </a:rPr>
              <a:t>AirBnB Booking Analysis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6DD49-2F2F-95C1-43B3-4EDED7FF3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5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0650-2CF3-C79A-E486-51C7D7B0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5381036" cy="1280890"/>
          </a:xfrm>
        </p:spPr>
        <p:txBody>
          <a:bodyPr>
            <a:normAutofit/>
          </a:bodyPr>
          <a:lstStyle/>
          <a:p>
            <a:r>
              <a:rPr lang="en-US" sz="4800" u="sng" dirty="0"/>
              <a:t>OBJECTIVE</a:t>
            </a:r>
            <a:endParaRPr lang="en-IN" sz="4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00AFD-6AFB-9576-3C14-8358733B2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392" y="2212258"/>
            <a:ext cx="8915400" cy="3777622"/>
          </a:xfrm>
        </p:spPr>
        <p:txBody>
          <a:bodyPr/>
          <a:lstStyle/>
          <a:p>
            <a:endParaRPr lang="en-IN" sz="3600" b="1" dirty="0"/>
          </a:p>
          <a:p>
            <a:r>
              <a:rPr lang="en-IN" sz="3600" b="1" dirty="0"/>
              <a:t>Understanding Market Trends</a:t>
            </a:r>
          </a:p>
          <a:p>
            <a:r>
              <a:rPr lang="en-IN" sz="3600" b="1" dirty="0"/>
              <a:t>Enhancing Guest Experience</a:t>
            </a:r>
          </a:p>
          <a:p>
            <a:r>
              <a:rPr lang="en-IN" sz="3600" b="1" dirty="0"/>
              <a:t>Improving Host Performance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3C21B-53AE-8710-AA3E-5BEA5E6CF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4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38D2-5265-39A0-A8D6-64709A15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963" y="574949"/>
            <a:ext cx="6541243" cy="1280890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   </a:t>
            </a:r>
            <a:r>
              <a:rPr lang="en-US" sz="4800" b="1" u="sng" dirty="0"/>
              <a:t>Analysis</a:t>
            </a:r>
            <a:br>
              <a:rPr lang="en-US" sz="4800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31F6-818D-6FA0-883A-B94446389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805" y="1855839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3600" b="1" dirty="0"/>
              <a:t>       Pricing Distribution</a:t>
            </a:r>
            <a:r>
              <a:rPr lang="en-US" sz="3600" dirty="0"/>
              <a:t>:</a:t>
            </a:r>
          </a:p>
          <a:p>
            <a:pPr marL="0" indent="0" fontAlgn="base">
              <a:buNone/>
            </a:pPr>
            <a:endParaRPr lang="en-US" sz="3600" dirty="0"/>
          </a:p>
          <a:p>
            <a:pPr lvl="1" fontAlgn="base"/>
            <a:r>
              <a:rPr lang="en-US" sz="3600" dirty="0"/>
              <a:t> Most Airbnb listings are priced within a moderate range.</a:t>
            </a:r>
          </a:p>
          <a:p>
            <a:pPr lvl="1" fontAlgn="base"/>
            <a:r>
              <a:rPr lang="en-US" sz="3600" dirty="0"/>
              <a:t> There are a few high-priced outliers, indicating some premium listings with significantly higher prices.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241C6-50CD-937B-85B6-4311EFBA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AE89-ADB2-3964-969F-18B8FF2C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556" y="1821427"/>
            <a:ext cx="10026444" cy="410005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Room Type Distribution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The majority of listings are either entire homes/apartments or private rooms.</a:t>
            </a:r>
            <a:b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b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Shared rooms and hotel rooms constitute a very small portion of the listings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3142A-D390-9E85-F1C8-02160427B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1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9DF5-9C5A-4998-0BAB-4A2331E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808" y="1533713"/>
            <a:ext cx="8911687" cy="3790574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sz="3700" b="1" dirty="0"/>
              <a:t>Geographical Distribution</a:t>
            </a:r>
            <a:r>
              <a:rPr lang="en-US" sz="3700" dirty="0"/>
              <a:t>:</a:t>
            </a:r>
            <a:br>
              <a:rPr lang="en-US" sz="3700" dirty="0"/>
            </a:br>
            <a:br>
              <a:rPr lang="en-US" dirty="0"/>
            </a:br>
            <a:r>
              <a:rPr lang="en-US" dirty="0"/>
              <a:t>Listings are predominantly concentrated in popular areas like Brooklyn and Manhattan.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Other boroughs such as Queens, Bronx, and Staten Island have fewer listings.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DCCBE-D52C-D081-064E-EF8C377DD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3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E898-BEEA-A539-3099-B54F8EAC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459" y="1636833"/>
            <a:ext cx="8911687" cy="4331348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Price Comparison by Room Type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Entire homes/apartments generally cost more than private rooms.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Shared rooms tend to have the lowest prices among the room types.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3A3E8-6E45-571F-A85E-33B5CAC63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40B3-ECF3-90BD-4492-654DE913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716" y="1956619"/>
            <a:ext cx="9387349" cy="3774256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Seasonal Trends in Reviews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There are observable seasonal trends in the number of reviews.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Certain months experience higher review activity.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EE8A3-A9DE-19CD-7207-4EA61394C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7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850D-5236-DBF6-CB84-79B90014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692779" cy="1280890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Key Insights:</a:t>
            </a:r>
            <a:endParaRPr lang="en-IN" sz="54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26EEF-78AB-F7E3-5DEE-7D490C5761E0}"/>
              </a:ext>
            </a:extLst>
          </p:cNvPr>
          <p:cNvSpPr txBox="1"/>
          <p:nvPr/>
        </p:nvSpPr>
        <p:spPr>
          <a:xfrm>
            <a:off x="2428567" y="2743200"/>
            <a:ext cx="8652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Airbnb has a </a:t>
            </a:r>
            <a:r>
              <a:rPr lang="en-US" sz="3600" b="1" dirty="0"/>
              <a:t>wide pricing range with some premium outliers</a:t>
            </a:r>
            <a:endParaRPr lang="en-US" sz="3600" dirty="0"/>
          </a:p>
          <a:p>
            <a:pPr marL="571500" indent="-5715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Entire homes dominate demand</a:t>
            </a:r>
            <a:endParaRPr lang="en-US" sz="3600" dirty="0"/>
          </a:p>
          <a:p>
            <a:pPr marL="571500" indent="-5715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Top locations drive most listings</a:t>
            </a:r>
          </a:p>
          <a:p>
            <a:pPr marL="571500" indent="-5715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Customer engagement varies seasonally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CEC4B-CECB-BE05-4BEB-B8AD81215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A137-622E-A84E-59AB-D4AD5503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6079127" cy="1280890"/>
          </a:xfrm>
        </p:spPr>
        <p:txBody>
          <a:bodyPr>
            <a:normAutofit/>
          </a:bodyPr>
          <a:lstStyle/>
          <a:p>
            <a:r>
              <a:rPr lang="en-US" sz="4400" b="1" u="sng" dirty="0"/>
              <a:t>Recommendations</a:t>
            </a:r>
            <a:endParaRPr lang="en-IN" sz="4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92BBA-AC6B-E84F-66DC-3523C3C9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406" y="2654710"/>
            <a:ext cx="8915400" cy="3777622"/>
          </a:xfrm>
        </p:spPr>
        <p:txBody>
          <a:bodyPr>
            <a:normAutofit/>
          </a:bodyPr>
          <a:lstStyle/>
          <a:p>
            <a:r>
              <a:rPr lang="en-US" sz="3600" dirty="0"/>
              <a:t> Focus on high demand locations</a:t>
            </a:r>
          </a:p>
          <a:p>
            <a:r>
              <a:rPr lang="en-US" sz="3600" dirty="0"/>
              <a:t> Optimize pricing strategy</a:t>
            </a:r>
          </a:p>
          <a:p>
            <a:r>
              <a:rPr lang="en-US" sz="3600" dirty="0"/>
              <a:t> Improve listing quality</a:t>
            </a:r>
          </a:p>
          <a:p>
            <a:r>
              <a:rPr lang="en-US" sz="3600" dirty="0"/>
              <a:t> Leverage peak seasons for higher revenue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232FD-CED8-D0CF-7204-CB475E979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8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624A-7D96-EB2C-3C5B-524233F8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939" y="588712"/>
            <a:ext cx="5046739" cy="896084"/>
          </a:xfrm>
        </p:spPr>
        <p:txBody>
          <a:bodyPr>
            <a:normAutofit fontScale="90000"/>
          </a:bodyPr>
          <a:lstStyle/>
          <a:p>
            <a:r>
              <a:rPr lang="en-IN" sz="4900" b="1" u="sng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5C4D1-297C-5983-167A-EC9640695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223" y="2491666"/>
            <a:ext cx="9629468" cy="377762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AirBnB market shows strong location and room-type dependency.</a:t>
            </a:r>
          </a:p>
          <a:p>
            <a:r>
              <a:rPr lang="en-US" sz="3200" dirty="0"/>
              <a:t> Strategic pricing and positioning can maximize revenue.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These insights can guide both hosts and guests in making informed decisions.</a:t>
            </a:r>
            <a:endParaRPr lang="en-IN" sz="32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8D8A3-C4E7-CB6F-E2E6-C62A5AA6E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19" y="116890"/>
            <a:ext cx="2452972" cy="18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1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AD71-44D3-E410-3BF1-77B8826B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364420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br>
              <a:rPr lang="en-US" sz="4400" dirty="0"/>
            </a:b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745364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642</TotalTime>
  <Words>270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Wingdings</vt:lpstr>
      <vt:lpstr>Wingdings 3</vt:lpstr>
      <vt:lpstr>Wisp</vt:lpstr>
      <vt:lpstr>AirBnB Booking Analysis </vt:lpstr>
      <vt:lpstr>OBJECTIVE</vt:lpstr>
      <vt:lpstr>   Analysis  </vt:lpstr>
      <vt:lpstr>Room Type Distribution:  The majority of listings are either entire homes/apartments or private rooms.  Shared rooms and hotel rooms constitute a very small portion of the listings. </vt:lpstr>
      <vt:lpstr>Geographical Distribution:  Listings are predominantly concentrated in popular areas like Brooklyn and Manhattan.  Other boroughs such as Queens, Bronx, and Staten Island have fewer listings. </vt:lpstr>
      <vt:lpstr>Price Comparison by Room Type:  Entire homes/apartments generally cost more than private rooms.  Shared rooms tend to have the lowest prices among the room types. </vt:lpstr>
      <vt:lpstr>Seasonal Trends in Reviews:  There are observable seasonal trends in the number of reviews.  Certain months experience higher review activity. </vt:lpstr>
      <vt:lpstr>Key Insights:</vt:lpstr>
      <vt:lpstr>Recommendations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Jain</dc:creator>
  <cp:lastModifiedBy>Ayushi Jain</cp:lastModifiedBy>
  <cp:revision>12</cp:revision>
  <dcterms:created xsi:type="dcterms:W3CDTF">2026-03-19T12:19:21Z</dcterms:created>
  <dcterms:modified xsi:type="dcterms:W3CDTF">2026-03-30T11:44:47Z</dcterms:modified>
</cp:coreProperties>
</file>